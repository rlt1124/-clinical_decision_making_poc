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56629"/>
            <a:ext cx="10668000" cy="5544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9700" y="1228129"/>
            <a:ext cx="9921240" cy="457200"/>
          </a:xfrm>
          <a:prstGeom prst="rect">
            <a:avLst/>
          </a:prstGeom>
          <a:noFill/>
        </p:spPr>
        <p:txBody>
          <a:bodyPr wrap="square" lIns="523875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5EEAD4"/>
                </a:solidFill>
                <a:latin typeface="Poppins"/>
              </a:rPr>
              <a:t>Cotiviti Intern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700" y="2066329"/>
            <a:ext cx="992124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Poppins"/>
              </a:rPr>
              <a:t>Clinical Decision Making &amp;</a:t>
            </a:r>
            <a:r>
              <a:t>
</a:t>
            </a:r>
            <a:r>
              <a:rPr b="1" sz="4200" i="0" u="none">
                <a:solidFill>
                  <a:srgbClr val="FFFFFF"/>
                </a:solidFill>
                <a:latin typeface="Poppins"/>
              </a:rPr>
              <a:t> Pattern Recognition in Healthcare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9700" y="3632001"/>
            <a:ext cx="762000" cy="381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1294804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3955851"/>
            <a:ext cx="94488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FFFFFF"/>
                </a:solidFill>
                <a:latin typeface="Inter SemiBold"/>
              </a:rPr>
              <a:t>Patient Readmission Risk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4481512"/>
            <a:ext cx="94488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FFFFFF"/>
                </a:solidFill>
                <a:latin typeface="Inter SemiBold"/>
              </a:rPr>
              <a:t>Presenter: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Ramesh Tare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4864298"/>
            <a:ext cx="94488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D Y Patil College of Engineering, University of Pune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700" y="5247084"/>
            <a:ext cx="94488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August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500687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66825"/>
            <a:ext cx="523875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862" y="1866900"/>
            <a:ext cx="4770387" cy="7313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1. Problem Statement &amp; Healthcare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826841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2. Dataset Overview &amp;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421112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3. Methodology &amp;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4015382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4. Key Clinical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4609653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5. Predictive Model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5203924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6. Strategic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5798194"/>
            <a:ext cx="4762500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293B"/>
                </a:solidFill>
                <a:latin typeface="Inter Medium"/>
              </a:rPr>
              <a:t>7. Conclusion &amp; Q&amp;A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4458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71489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5760"/>
            <a:ext cx="33337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60031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54301"/>
            <a:ext cx="266700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48572"/>
            <a:ext cx="200025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842843"/>
            <a:ext cx="3333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60190"/>
            <a:ext cx="3302049" cy="32231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49" y="1760190"/>
            <a:ext cx="3302049" cy="3223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60190"/>
            <a:ext cx="3302049" cy="3223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76400"/>
            <a:ext cx="11049000" cy="4610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198340"/>
            <a:ext cx="2540049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7500" i="0" u="none">
                <a:solidFill>
                  <a:srgbClr val="0D9488"/>
                </a:solidFill>
                <a:latin typeface="Poppins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41340"/>
            <a:ext cx="254004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1E293B"/>
                </a:solidFill>
                <a:latin typeface="Inter SemiBold"/>
              </a:rPr>
              <a:t>Readmission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9490"/>
            <a:ext cx="254004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Of Medicare patients are readmitted within 30 days of discharge.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49" y="2198340"/>
            <a:ext cx="2540049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7500" i="0" u="none">
                <a:solidFill>
                  <a:srgbClr val="FFFFFF"/>
                </a:solidFill>
                <a:latin typeface="Poppins"/>
              </a:rPr>
              <a:t>$17B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49" y="3341340"/>
            <a:ext cx="254004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Inter SemiBold"/>
              </a:rPr>
              <a:t>Annual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49" y="3779490"/>
            <a:ext cx="254004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staggering yearly financial burden on the US healthcare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99" y="3341340"/>
            <a:ext cx="254004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1E293B"/>
                </a:solidFill>
                <a:latin typeface="Inter SemiBold"/>
              </a:rPr>
              <a:t>Preventable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99" y="3779490"/>
            <a:ext cx="254004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significant portion of these readmissions can be avoided with proactive care.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49" y="2388840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The Healthcare Challenge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1866900"/>
          <a:ext cx="11048998" cy="419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22128"/>
                <a:gridCol w="2515344"/>
                <a:gridCol w="5311526"/>
              </a:tblGrid>
              <a:tr h="698797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Data Source /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Total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Inter SemiBold"/>
                        </a:rPr>
                        <a:t>Key Features Extracted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698797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Admissions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120,000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Length of Stay (LOS), Procedures, Lab Results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8797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Patients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86,400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Demographics, Age, Insurance Type, BPL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98797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Diagnoses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271,341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ICD-10 Diagnosis Codes, Comorbidities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8797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Billing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120,000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Total Costs, Payment Methods, Claim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9880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Hospitals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Bed Capacity, Location, Specialty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759773"/>
            <a:ext cx="51435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36670" y="6726435"/>
            <a:ext cx="9071133" cy="13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700" i="0" u="none">
                <a:solidFill>
                  <a:srgbClr val="FFFFFF"/>
                </a:solidFill>
                <a:latin typeface="Poppins SemiBold"/>
              </a:rPr>
              <a:t>Target Variable: 30-Day Readmission Rate is 11.8%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583060"/>
            <a:ext cx="3222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3628" y="2583060"/>
            <a:ext cx="2515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8973" y="2583060"/>
            <a:ext cx="5311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278385"/>
            <a:ext cx="3222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93628" y="3278385"/>
            <a:ext cx="2515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8973" y="3278385"/>
            <a:ext cx="5311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973710"/>
            <a:ext cx="3222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3628" y="3973710"/>
            <a:ext cx="2515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8973" y="3973710"/>
            <a:ext cx="5311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669035"/>
            <a:ext cx="3222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3628" y="4669035"/>
            <a:ext cx="2515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8973" y="4669035"/>
            <a:ext cx="5311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364360"/>
            <a:ext cx="3222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3628" y="5364360"/>
            <a:ext cx="2515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8973" y="5364360"/>
            <a:ext cx="53115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Dataset Overview: India Hospital Records (2015-2024)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6900"/>
            <a:ext cx="3492549" cy="441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866900"/>
            <a:ext cx="3492549" cy="441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866900"/>
            <a:ext cx="3492549" cy="441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4" y="4048125"/>
            <a:ext cx="34735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775" y="3057525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oppins SemiBold"/>
              </a:rPr>
              <a:t>1. Data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9324" y="4048125"/>
            <a:ext cx="34735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074" y="3057525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oppins SemiBold"/>
              </a:rPr>
              <a:t>2. Feature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7623" y="4048125"/>
            <a:ext cx="34735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3374" y="3057525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oppins SemiBold"/>
              </a:rPr>
              <a:t>3. Predictive Modeling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305050"/>
            <a:ext cx="51435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525" y="3619500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Merged multiple relational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310955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Handled missing lab values via median 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5002410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Removed outliers in length of stay (LOS)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3050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0824" y="3619500"/>
            <a:ext cx="2616249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Created patient Acuity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0824" y="4036665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Encoded categorical variables (One-Hot)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0824" y="4728120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Aggregated historical admission counts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30505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09124" y="3619500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Trained Random Forest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124" y="4310955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Implemented XGBoost for high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9124" y="5002410"/>
            <a:ext cx="26162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Handled 11.8% class imbalance using SMOTE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Methodology &amp; Analytical Approach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638550"/>
            <a:ext cx="1524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330005"/>
            <a:ext cx="15240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5021460"/>
            <a:ext cx="15240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74" y="3638550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74" y="4055715"/>
            <a:ext cx="15240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74" y="4747170"/>
            <a:ext cx="15240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3638550"/>
            <a:ext cx="152400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4330005"/>
            <a:ext cx="152400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502146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76400"/>
            <a:ext cx="11049000" cy="47053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391150"/>
            <a:ext cx="11049000" cy="990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5581650"/>
            <a:ext cx="10477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1" u="none">
                <a:solidFill>
                  <a:srgbClr val="475569"/>
                </a:solidFill>
                <a:latin typeface="Inter"/>
              </a:rPr>
              <a:t>Clinical Insight:</a:t>
            </a:r>
            <a:r>
              <a:rPr b="0" sz="1500" i="1" u="none">
                <a:solidFill>
                  <a:srgbClr val="475569"/>
                </a:solidFill>
                <a:latin typeface="Inter"/>
              </a:rPr>
              <a:t> Patients with an initial Length of Stay exceeding 7 days, combined with a history of prior admissions in the last 12 months, represent the highest risk cohort for 30-day readmission.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391150"/>
            <a:ext cx="38100" cy="990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Key Clinical Findings: Top Risk Predictors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6900"/>
            <a:ext cx="5286375" cy="5410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66900"/>
            <a:ext cx="5286375" cy="5410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352675"/>
            <a:ext cx="431482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9404" y="3000375"/>
            <a:ext cx="45305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64748B"/>
                </a:solidFill>
                <a:latin typeface="Poppins SemiBold"/>
              </a:rPr>
              <a:t>Baseline Model</a:t>
            </a:r>
            <a:r>
              <a:t>
</a:t>
            </a:r>
            <a:r>
              <a:rPr b="0" sz="2400" i="0" u="none">
                <a:solidFill>
                  <a:srgbClr val="64748B"/>
                </a:solidFill>
                <a:latin typeface="Poppins SemiBold"/>
              </a:rPr>
              <a:t> (Logistic Regression)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0" y="2352675"/>
            <a:ext cx="4314825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12029" y="3000375"/>
            <a:ext cx="45305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D9488"/>
                </a:solidFill>
                <a:latin typeface="Poppins SemiBold"/>
              </a:rPr>
              <a:t>Optimized Model</a:t>
            </a:r>
            <a:r>
              <a:t>
</a:t>
            </a:r>
            <a:r>
              <a:rPr b="0" sz="2400" i="0" u="none">
                <a:solidFill>
                  <a:srgbClr val="0D9488"/>
                </a:solidFill>
                <a:latin typeface="Poppins SemiBold"/>
              </a:rPr>
              <a:t> (XGBoost + SMOTE)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4438650"/>
            <a:ext cx="431482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Accuracy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72.4%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275" y="5105400"/>
            <a:ext cx="4314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275" y="5353050"/>
            <a:ext cx="431482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AUC-ROC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0.68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275" y="6019800"/>
            <a:ext cx="4314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275" y="6267450"/>
            <a:ext cx="4314825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Recall (Sensitivity)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54.1%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4438650"/>
            <a:ext cx="431482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Accuracy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D9488"/>
                </a:solidFill>
                <a:latin typeface="Inter"/>
              </a:rPr>
              <a:t>86.8%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9900" y="5105400"/>
            <a:ext cx="4314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9900" y="5353050"/>
            <a:ext cx="431482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AUC-ROC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D9488"/>
                </a:solidFill>
                <a:latin typeface="Inter"/>
              </a:rPr>
              <a:t>0.89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9900" y="6019800"/>
            <a:ext cx="4314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9900" y="6267450"/>
            <a:ext cx="4314825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Recall (Sensitivity)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D9488"/>
                </a:solidFill>
                <a:latin typeface="Inter"/>
              </a:rPr>
              <a:t>82.3%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Predictive Model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838325"/>
            <a:ext cx="4229100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838325"/>
            <a:ext cx="422910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1998761"/>
            <a:ext cx="5915025" cy="1083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1E3A8A"/>
                </a:solidFill>
                <a:latin typeface="Inter"/>
              </a:rPr>
              <a:t>Deploy Predictive Dashboard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Integrate the XGBoost model into hospital EMR systems to flag high-risk patients 48 hours prior to discharge.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320504"/>
            <a:ext cx="5915025" cy="1083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1E3A8A"/>
                </a:solidFill>
                <a:latin typeface="Inter"/>
              </a:rPr>
              <a:t>Targeted Interventions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Allocate care managers specifically to the top 15% risk tier to schedule follow-up calls and home health visits.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642246"/>
            <a:ext cx="5915025" cy="1083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1E3A8A"/>
                </a:solidFill>
                <a:latin typeface="Inter"/>
              </a:rPr>
              <a:t>Cost Containment Strategy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By preventing just 10% of identified high-risk readmissions, partner hospitals can save approximately $2.5M annually.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2574"/>
            <a:ext cx="314325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44316"/>
            <a:ext cx="276225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66059"/>
            <a:ext cx="247650" cy="257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Strategic Recommendations for Cotiviti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1316384"/>
            <a:ext cx="571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0738" y="2364134"/>
            <a:ext cx="4190523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583334"/>
            <a:ext cx="6667500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475569"/>
                </a:solidFill>
                <a:latin typeface="Inter"/>
              </a:rPr>
              <a:t>Are there any questions regarding the methodology, model performance, or implementation strategy?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237" y="4912965"/>
            <a:ext cx="7629525" cy="628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67037" y="5103465"/>
            <a:ext cx="2828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1E293B"/>
                </a:solidFill>
                <a:latin typeface="Inter SemiBold"/>
              </a:rPr>
              <a:t>ramesh.tare@example.com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1712" y="5103465"/>
            <a:ext cx="76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Inter SemiBold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9887" y="5103465"/>
            <a:ext cx="280987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650" i="0" u="none">
                <a:solidFill>
                  <a:srgbClr val="1E293B"/>
                </a:solidFill>
                <a:latin typeface="Inter SemiBold"/>
              </a:rPr>
              <a:t> linkedin.com/in/rameshtare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2237" y="512251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662" y="512251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67640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65926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497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6497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345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4345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24942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181927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https://ergsy.com/sites/default/files/styles/video_thumb/public/video_thumbs/info-image-How_should_Wegovy_tablets_be_stored_-thumb-1772059621.jpg.webp?itok=VlFzJaT5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226308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ergsy.com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8684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80213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https://visme.co/blog/wp-content/uploads/2024/06/12-7.jpg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04785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visme.co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9345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58690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https://images.stockcake.com/public/3/3/7/3378a539-4763-494f-a90a-4467baa89ff0_large/modern-hospital-design-stockcake.jpg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83262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1E3A8A"/>
                </a:solidFill>
                <a:latin typeface="Poppins SemiBold"/>
              </a:rPr>
              <a:t>Image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